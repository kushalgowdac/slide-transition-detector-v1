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20"/>
  </p:notesMasterIdLst>
  <p:sldIdLst>
    <p:sldId id="256" r:id="rId2"/>
    <p:sldId id="258" r:id="rId3"/>
    <p:sldId id="276" r:id="rId4"/>
    <p:sldId id="259" r:id="rId5"/>
    <p:sldId id="260" r:id="rId6"/>
    <p:sldId id="272" r:id="rId7"/>
    <p:sldId id="261" r:id="rId8"/>
    <p:sldId id="262" r:id="rId9"/>
    <p:sldId id="263" r:id="rId10"/>
    <p:sldId id="264" r:id="rId11"/>
    <p:sldId id="266" r:id="rId12"/>
    <p:sldId id="273" r:id="rId13"/>
    <p:sldId id="268" r:id="rId14"/>
    <p:sldId id="269" r:id="rId15"/>
    <p:sldId id="274" r:id="rId16"/>
    <p:sldId id="275" r:id="rId17"/>
    <p:sldId id="270" r:id="rId18"/>
    <p:sldId id="271" r:id="rId19"/>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1ZxK73+cXXVY0o3PFXFU2LcSm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620"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C6BEB07B-D56B-DFCF-08FF-429BCCFBD6FB}"/>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20F6F6E8-967A-B037-35B2-ECA8ED8FC50B}"/>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4:notes">
            <a:extLst>
              <a:ext uri="{FF2B5EF4-FFF2-40B4-BE49-F238E27FC236}">
                <a16:creationId xmlns:a16="http://schemas.microsoft.com/office/drawing/2014/main" id="{4BC39892-5507-916F-1B3D-A94BEEAF703F}"/>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6901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270DBB36-1003-49D5-65DB-DD1A5E30F6EA}"/>
            </a:ext>
          </a:extLst>
        </p:cNvPr>
        <p:cNvGrpSpPr/>
        <p:nvPr/>
      </p:nvGrpSpPr>
      <p:grpSpPr>
        <a:xfrm>
          <a:off x="0" y="0"/>
          <a:ext cx="0" cy="0"/>
          <a:chOff x="0" y="0"/>
          <a:chExt cx="0" cy="0"/>
        </a:xfrm>
      </p:grpSpPr>
      <p:sp>
        <p:nvSpPr>
          <p:cNvPr id="173" name="Google Shape;173;p6:notes">
            <a:extLst>
              <a:ext uri="{FF2B5EF4-FFF2-40B4-BE49-F238E27FC236}">
                <a16:creationId xmlns:a16="http://schemas.microsoft.com/office/drawing/2014/main" id="{B51633B7-30FC-0936-9F09-8DD74FE99E9F}"/>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6:notes">
            <a:extLst>
              <a:ext uri="{FF2B5EF4-FFF2-40B4-BE49-F238E27FC236}">
                <a16:creationId xmlns:a16="http://schemas.microsoft.com/office/drawing/2014/main" id="{F1707E74-68F5-5FE5-3CB1-DE99E3358504}"/>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7597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06816569-CC39-9DFA-9148-1A15DE92C801}"/>
            </a:ext>
          </a:extLst>
        </p:cNvPr>
        <p:cNvGrpSpPr/>
        <p:nvPr/>
      </p:nvGrpSpPr>
      <p:grpSpPr>
        <a:xfrm>
          <a:off x="0" y="0"/>
          <a:ext cx="0" cy="0"/>
          <a:chOff x="0" y="0"/>
          <a:chExt cx="0" cy="0"/>
        </a:xfrm>
      </p:grpSpPr>
      <p:sp>
        <p:nvSpPr>
          <p:cNvPr id="213" name="Google Shape;213;p11:notes">
            <a:extLst>
              <a:ext uri="{FF2B5EF4-FFF2-40B4-BE49-F238E27FC236}">
                <a16:creationId xmlns:a16="http://schemas.microsoft.com/office/drawing/2014/main" id="{1FAC8EB3-4AB9-E7D5-23AC-6E07FB73B5DC}"/>
              </a:ext>
            </a:extLst>
          </p:cNvPr>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1:notes">
            <a:extLst>
              <a:ext uri="{FF2B5EF4-FFF2-40B4-BE49-F238E27FC236}">
                <a16:creationId xmlns:a16="http://schemas.microsoft.com/office/drawing/2014/main" id="{7E548716-A332-40AA-2002-F4F662C18994}"/>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7175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E77A1F0-7243-B3CF-A539-05BB8FC06238}"/>
            </a:ext>
          </a:extLst>
        </p:cNvPr>
        <p:cNvGrpSpPr/>
        <p:nvPr/>
      </p:nvGrpSpPr>
      <p:grpSpPr>
        <a:xfrm>
          <a:off x="0" y="0"/>
          <a:ext cx="0" cy="0"/>
          <a:chOff x="0" y="0"/>
          <a:chExt cx="0" cy="0"/>
        </a:xfrm>
      </p:grpSpPr>
      <p:sp>
        <p:nvSpPr>
          <p:cNvPr id="238" name="Google Shape;238;p14:notes">
            <a:extLst>
              <a:ext uri="{FF2B5EF4-FFF2-40B4-BE49-F238E27FC236}">
                <a16:creationId xmlns:a16="http://schemas.microsoft.com/office/drawing/2014/main" id="{83A092EA-60B3-4477-BD6B-299C117E0C59}"/>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4:notes">
            <a:extLst>
              <a:ext uri="{FF2B5EF4-FFF2-40B4-BE49-F238E27FC236}">
                <a16:creationId xmlns:a16="http://schemas.microsoft.com/office/drawing/2014/main" id="{C51BDEEA-8BFE-39D8-C456-D1D001F6EE80}"/>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4:notes">
            <a:extLst>
              <a:ext uri="{FF2B5EF4-FFF2-40B4-BE49-F238E27FC236}">
                <a16:creationId xmlns:a16="http://schemas.microsoft.com/office/drawing/2014/main" id="{0251D26A-BBA0-28E2-E593-4223790D460F}"/>
              </a:ext>
            </a:extLst>
          </p:cNvPr>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extLst>
      <p:ext uri="{BB962C8B-B14F-4D97-AF65-F5344CB8AC3E}">
        <p14:creationId xmlns:p14="http://schemas.microsoft.com/office/powerpoint/2010/main" val="16803187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F6A4F8B-C134-CE00-C3C7-824B271CDD1F}"/>
            </a:ext>
          </a:extLst>
        </p:cNvPr>
        <p:cNvGrpSpPr/>
        <p:nvPr/>
      </p:nvGrpSpPr>
      <p:grpSpPr>
        <a:xfrm>
          <a:off x="0" y="0"/>
          <a:ext cx="0" cy="0"/>
          <a:chOff x="0" y="0"/>
          <a:chExt cx="0" cy="0"/>
        </a:xfrm>
      </p:grpSpPr>
      <p:sp>
        <p:nvSpPr>
          <p:cNvPr id="238" name="Google Shape;238;p14:notes">
            <a:extLst>
              <a:ext uri="{FF2B5EF4-FFF2-40B4-BE49-F238E27FC236}">
                <a16:creationId xmlns:a16="http://schemas.microsoft.com/office/drawing/2014/main" id="{3530B3BC-5790-4D08-5542-1CA65B689CA6}"/>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4:notes">
            <a:extLst>
              <a:ext uri="{FF2B5EF4-FFF2-40B4-BE49-F238E27FC236}">
                <a16:creationId xmlns:a16="http://schemas.microsoft.com/office/drawing/2014/main" id="{CAFD5FE9-DDEB-03F5-78BC-2B34B8D45D81}"/>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4:notes">
            <a:extLst>
              <a:ext uri="{FF2B5EF4-FFF2-40B4-BE49-F238E27FC236}">
                <a16:creationId xmlns:a16="http://schemas.microsoft.com/office/drawing/2014/main" id="{FBE1524B-FE8D-2BB1-D117-6B2E9AB148A7}"/>
              </a:ext>
            </a:extLst>
          </p:cNvPr>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16</a:t>
            </a:fld>
            <a:endParaRPr/>
          </a:p>
        </p:txBody>
      </p:sp>
    </p:spTree>
    <p:extLst>
      <p:ext uri="{BB962C8B-B14F-4D97-AF65-F5344CB8AC3E}">
        <p14:creationId xmlns:p14="http://schemas.microsoft.com/office/powerpoint/2010/main" val="2937168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isca-archive.org/interspeech_2023/liu23x_interspeech.pdf"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505.02966" TargetMode="External"/><Relationship Id="rId7" Type="http://schemas.openxmlformats.org/officeDocument/2006/relationships/hyperlink" Target="https://www.researchgate.net/publication/329952893_Automated_Summarization_of_Lecture_Video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ww.ijfmr.com/papers/2024/6/32711.pdf" TargetMode="External"/><Relationship Id="rId5" Type="http://schemas.openxmlformats.org/officeDocument/2006/relationships/hyperlink" Target="https://www.isca-archive.org/interspeech_2023/liu23x_interspeech.pdf" TargetMode="External"/><Relationship Id="rId4" Type="http://schemas.openxmlformats.org/officeDocument/2006/relationships/hyperlink" Target="https://arxiv.org/abs/2504.10049"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ijirt.org/publishedpaper/IJIRT151416_PAPER.pdf"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www.comp.nus.edu.sg/~mohan/papers/icip2009.pdf"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2400" dirty="0">
                <a:solidFill>
                  <a:schemeClr val="bg1"/>
                </a:solidFill>
              </a:rPr>
              <a:t>Indexing Lecture Videos for Smart Summarization</a:t>
            </a:r>
            <a:endParaRPr sz="2400" dirty="0">
              <a:solidFill>
                <a:schemeClr val="bg1"/>
              </a:solidFill>
            </a:endParaRPr>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i="0" u="none" strike="noStrike" cap="none">
                <a:solidFill>
                  <a:schemeClr val="lt1"/>
                </a:solidFill>
                <a:latin typeface="Bookman Old Style"/>
                <a:ea typeface="Bookman Old Style"/>
                <a:cs typeface="Bookman Old Style"/>
                <a:sym typeface="Bookman Old Style"/>
              </a:rPr>
              <a:t>Theme &amp; Project Number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3"/>
          <p:cNvPicPr preferRelativeResize="0">
            <a:picLocks noGrp="1"/>
          </p:cNvPicPr>
          <p:nvPr>
            <p:ph type="body" idx="1"/>
          </p:nvPr>
        </p:nvPicPr>
        <p:blipFill rotWithShape="1">
          <a:blip r:embed="rId3">
            <a:alphaModFix/>
          </a:blip>
          <a:srcRect/>
          <a:stretch/>
        </p:blipFill>
        <p:spPr>
          <a:xfrm>
            <a:off x="2918012" y="103831"/>
            <a:ext cx="6154436" cy="6243374"/>
          </a:xfrm>
          <a:prstGeom prst="rect">
            <a:avLst/>
          </a:prstGeom>
          <a:noFill/>
          <a:ln>
            <a:noFill/>
          </a:ln>
        </p:spPr>
      </p:pic>
      <p:sp>
        <p:nvSpPr>
          <p:cNvPr id="153" name="Google Shape;153;p3"/>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54" name="Google Shape;154;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5105E7B-ECB6-604D-99D9-2B9E59AAF3F1}"/>
            </a:ext>
          </a:extLst>
        </p:cNvPr>
        <p:cNvGrpSpPr/>
        <p:nvPr/>
      </p:nvGrpSpPr>
      <p:grpSpPr>
        <a:xfrm>
          <a:off x="0" y="0"/>
          <a:ext cx="0" cy="0"/>
          <a:chOff x="0" y="0"/>
          <a:chExt cx="0" cy="0"/>
        </a:xfrm>
      </p:grpSpPr>
      <p:sp>
        <p:nvSpPr>
          <p:cNvPr id="159" name="Google Shape;159;p4">
            <a:extLst>
              <a:ext uri="{FF2B5EF4-FFF2-40B4-BE49-F238E27FC236}">
                <a16:creationId xmlns:a16="http://schemas.microsoft.com/office/drawing/2014/main" id="{DA038788-F5E0-3F65-CCE3-A9BE66EF7916}"/>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60" name="Google Shape;160;p4">
            <a:extLst>
              <a:ext uri="{FF2B5EF4-FFF2-40B4-BE49-F238E27FC236}">
                <a16:creationId xmlns:a16="http://schemas.microsoft.com/office/drawing/2014/main" id="{ED589530-2B3A-588B-7A51-BB7004CC2B3A}"/>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61" name="Google Shape;161;p4">
            <a:extLst>
              <a:ext uri="{FF2B5EF4-FFF2-40B4-BE49-F238E27FC236}">
                <a16:creationId xmlns:a16="http://schemas.microsoft.com/office/drawing/2014/main" id="{1772ECB1-2D2D-9E81-508D-9308CBA52441}"/>
              </a:ext>
            </a:extLst>
          </p:cNvPr>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62" name="Google Shape;162;p4">
            <a:extLst>
              <a:ext uri="{FF2B5EF4-FFF2-40B4-BE49-F238E27FC236}">
                <a16:creationId xmlns:a16="http://schemas.microsoft.com/office/drawing/2014/main" id="{1360F836-9A0C-D86D-0846-FC0539F1EB6D}"/>
              </a:ext>
            </a:extLst>
          </p:cNvPr>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dirty="0">
                <a:solidFill>
                  <a:srgbClr val="C00000"/>
                </a:solidFill>
                <a:latin typeface="Bookman Old Style"/>
                <a:ea typeface="Bookman Old Style"/>
                <a:cs typeface="Bookman Old Style"/>
                <a:sym typeface="Bookman Old Style"/>
              </a:rPr>
              <a:t>GROUP MEMBERS</a:t>
            </a:r>
            <a:endParaRPr dirty="0"/>
          </a:p>
        </p:txBody>
      </p:sp>
      <p:sp>
        <p:nvSpPr>
          <p:cNvPr id="163" name="Google Shape;163;p4">
            <a:extLst>
              <a:ext uri="{FF2B5EF4-FFF2-40B4-BE49-F238E27FC236}">
                <a16:creationId xmlns:a16="http://schemas.microsoft.com/office/drawing/2014/main" id="{2BD453D7-93FE-F286-B7EC-2BBDD2D6E6E2}"/>
              </a:ext>
            </a:extLst>
          </p:cNvPr>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endParaRPr dirty="0"/>
          </a:p>
        </p:txBody>
      </p:sp>
    </p:spTree>
    <p:extLst>
      <p:ext uri="{BB962C8B-B14F-4D97-AF65-F5344CB8AC3E}">
        <p14:creationId xmlns:p14="http://schemas.microsoft.com/office/powerpoint/2010/main" val="954887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60" name="Google Shape;160;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61" name="Google Shape;161;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62" name="Google Shape;162;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63" name="Google Shape;163;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dirty="0"/>
              <a:t>Introduction</a:t>
            </a:r>
            <a:endParaRPr dirty="0"/>
          </a:p>
          <a:p>
            <a:pPr marL="228600" lvl="0" indent="-228600" algn="l" rtl="0">
              <a:lnSpc>
                <a:spcPct val="90000"/>
              </a:lnSpc>
              <a:spcBef>
                <a:spcPts val="1000"/>
              </a:spcBef>
              <a:spcAft>
                <a:spcPts val="0"/>
              </a:spcAft>
              <a:buClr>
                <a:srgbClr val="002060"/>
              </a:buClr>
              <a:buSzPts val="2800"/>
              <a:buChar char="•"/>
            </a:pPr>
            <a:r>
              <a:rPr lang="en-IN" dirty="0"/>
              <a:t>Literature Review</a:t>
            </a:r>
            <a:endParaRPr dirty="0"/>
          </a:p>
          <a:p>
            <a:pPr marL="228600" lvl="0" indent="-228600" algn="l" rtl="0">
              <a:lnSpc>
                <a:spcPct val="90000"/>
              </a:lnSpc>
              <a:spcBef>
                <a:spcPts val="1000"/>
              </a:spcBef>
              <a:spcAft>
                <a:spcPts val="0"/>
              </a:spcAft>
              <a:buClr>
                <a:srgbClr val="002060"/>
              </a:buClr>
              <a:buSzPts val="2800"/>
              <a:buChar char="•"/>
            </a:pPr>
            <a:r>
              <a:rPr lang="en-IN" dirty="0"/>
              <a:t>Problem Definition</a:t>
            </a:r>
            <a:endParaRPr dirty="0"/>
          </a:p>
          <a:p>
            <a:pPr marL="228600" lvl="0" indent="-228600" algn="l" rtl="0">
              <a:lnSpc>
                <a:spcPct val="90000"/>
              </a:lnSpc>
              <a:spcBef>
                <a:spcPts val="1000"/>
              </a:spcBef>
              <a:spcAft>
                <a:spcPts val="0"/>
              </a:spcAft>
              <a:buClr>
                <a:srgbClr val="002060"/>
              </a:buClr>
              <a:buSzPts val="2800"/>
              <a:buChar char="•"/>
            </a:pPr>
            <a:r>
              <a:rPr lang="en-IN" dirty="0"/>
              <a:t>Objectives</a:t>
            </a:r>
            <a:endParaRPr dirty="0"/>
          </a:p>
          <a:p>
            <a:pPr marL="228600" lvl="0" indent="-228600" algn="l" rtl="0">
              <a:lnSpc>
                <a:spcPct val="90000"/>
              </a:lnSpc>
              <a:spcBef>
                <a:spcPts val="1000"/>
              </a:spcBef>
              <a:spcAft>
                <a:spcPts val="0"/>
              </a:spcAft>
              <a:buClr>
                <a:srgbClr val="002060"/>
              </a:buClr>
              <a:buSzPts val="2800"/>
              <a:buChar char="•"/>
            </a:pPr>
            <a:r>
              <a:rPr lang="en-IN" dirty="0"/>
              <a:t>Methodology</a:t>
            </a:r>
            <a:endParaRPr dirty="0"/>
          </a:p>
          <a:p>
            <a:pPr marL="228600" lvl="0" indent="-228600" algn="l" rtl="0">
              <a:lnSpc>
                <a:spcPct val="90000"/>
              </a:lnSpc>
              <a:spcBef>
                <a:spcPts val="1000"/>
              </a:spcBef>
              <a:spcAft>
                <a:spcPts val="0"/>
              </a:spcAft>
              <a:buClr>
                <a:srgbClr val="002060"/>
              </a:buClr>
              <a:buSzPts val="2800"/>
              <a:buChar char="•"/>
            </a:pPr>
            <a:r>
              <a:rPr lang="en-IN" dirty="0"/>
              <a:t>Proposed Outcomes</a:t>
            </a:r>
            <a:endParaRPr dirty="0"/>
          </a:p>
          <a:p>
            <a:pPr marL="228600" lvl="0" indent="-228600" algn="l" rtl="0">
              <a:lnSpc>
                <a:spcPct val="90000"/>
              </a:lnSpc>
              <a:spcBef>
                <a:spcPts val="1000"/>
              </a:spcBef>
              <a:spcAft>
                <a:spcPts val="0"/>
              </a:spcAft>
              <a:buClr>
                <a:srgbClr val="002060"/>
              </a:buClr>
              <a:buSzPts val="2800"/>
              <a:buChar char="•"/>
            </a:pPr>
            <a:r>
              <a:rPr lang="en-IN" dirty="0"/>
              <a:t>Conclusion</a:t>
            </a:r>
            <a:endParaRPr dirty="0"/>
          </a:p>
          <a:p>
            <a:pPr marL="228600" lvl="0" indent="-228600" algn="l" rtl="0">
              <a:lnSpc>
                <a:spcPct val="90000"/>
              </a:lnSpc>
              <a:spcBef>
                <a:spcPts val="1000"/>
              </a:spcBef>
              <a:spcAft>
                <a:spcPts val="0"/>
              </a:spcAft>
              <a:buClr>
                <a:srgbClr val="002060"/>
              </a:buClr>
              <a:buSzPts val="2800"/>
              <a:buChar char="•"/>
            </a:pPr>
            <a:r>
              <a:rPr lang="en-IN" dirty="0"/>
              <a:t>References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US" dirty="0"/>
              <a:t>The increasing use of video lectures in educational platforms has created the need for automated systems that can summarize and extract key visual content from videos. Manual extraction of slides is inefficient and impractical for large volumes of content. Traditional video summarization techniques based on low-level visual features often struggle to handle gradual transitions, speaker overlays, or animations within lecture videos. To address these challenges, this project focuses on developing an AI–ML-based approach that accurately detects slide transitions and extracts clear slide snapshots along with their textual content for downstream applications such as search, summarization, and note generation.</a:t>
            </a:r>
            <a:endParaRPr dirty="0"/>
          </a:p>
        </p:txBody>
      </p:sp>
      <p:sp>
        <p:nvSpPr>
          <p:cNvPr id="169" name="Google Shape;169;p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70" name="Google Shape;170;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5</a:t>
            </a:fld>
            <a:endParaRPr/>
          </a:p>
        </p:txBody>
      </p:sp>
      <p:sp>
        <p:nvSpPr>
          <p:cNvPr id="171" name="Google Shape;171;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67AA788-6448-2BD9-29C4-13E9D7806A00}"/>
            </a:ext>
          </a:extLst>
        </p:cNvPr>
        <p:cNvGrpSpPr/>
        <p:nvPr/>
      </p:nvGrpSpPr>
      <p:grpSpPr>
        <a:xfrm>
          <a:off x="0" y="0"/>
          <a:ext cx="0" cy="0"/>
          <a:chOff x="0" y="0"/>
          <a:chExt cx="0" cy="0"/>
        </a:xfrm>
      </p:grpSpPr>
      <p:sp>
        <p:nvSpPr>
          <p:cNvPr id="176" name="Google Shape;176;p6">
            <a:extLst>
              <a:ext uri="{FF2B5EF4-FFF2-40B4-BE49-F238E27FC236}">
                <a16:creationId xmlns:a16="http://schemas.microsoft.com/office/drawing/2014/main" id="{2B4562FF-D168-6F83-6201-C281809A3F04}"/>
              </a:ext>
            </a:extLst>
          </p:cNvPr>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b="1" dirty="0"/>
              <a:t>Key studies and Findings: </a:t>
            </a:r>
            <a:r>
              <a:rPr lang="en-US" dirty="0"/>
              <a:t>Recent studies show that slide transitions can be accurately detected using visual similarity and ML methods.</a:t>
            </a:r>
            <a:br>
              <a:rPr lang="en-US" dirty="0"/>
            </a:br>
            <a:r>
              <a:rPr lang="en-US" dirty="0"/>
              <a:t>Deep models like TransNetV2 and </a:t>
            </a:r>
            <a:r>
              <a:rPr lang="en-US" dirty="0" err="1"/>
              <a:t>SliTraNet</a:t>
            </a:r>
            <a:r>
              <a:rPr lang="en-US" dirty="0"/>
              <a:t> achieve high accuracy in lecture videos.</a:t>
            </a:r>
            <a:br>
              <a:rPr lang="en-US" dirty="0"/>
            </a:br>
            <a:r>
              <a:rPr lang="en-US" dirty="0"/>
              <a:t>These works prove automated slide extraction is reliable and practical.</a:t>
            </a:r>
          </a:p>
          <a:p>
            <a:pPr marL="228600" lvl="0" indent="-228600">
              <a:spcBef>
                <a:spcPts val="0"/>
              </a:spcBef>
            </a:pPr>
            <a:r>
              <a:rPr lang="en-IN" b="1" dirty="0"/>
              <a:t>Trends in Literature: </a:t>
            </a:r>
            <a:r>
              <a:rPr lang="en-US" dirty="0"/>
              <a:t>Research is shifting from hand-crafted features to deep learning–based temporal models.</a:t>
            </a:r>
            <a:br>
              <a:rPr lang="en-US" dirty="0"/>
            </a:br>
            <a:r>
              <a:rPr lang="en-US" dirty="0"/>
              <a:t>There is a growing focus on educational video indexing, summarization, and semantic search.</a:t>
            </a:r>
            <a:br>
              <a:rPr lang="en-US" dirty="0"/>
            </a:br>
            <a:r>
              <a:rPr lang="en-US" dirty="0"/>
              <a:t>Multimodal models (vision + text) are emerging as the future direction.</a:t>
            </a:r>
            <a:endParaRPr dirty="0"/>
          </a:p>
        </p:txBody>
      </p:sp>
      <p:sp>
        <p:nvSpPr>
          <p:cNvPr id="177" name="Google Shape;177;p6">
            <a:extLst>
              <a:ext uri="{FF2B5EF4-FFF2-40B4-BE49-F238E27FC236}">
                <a16:creationId xmlns:a16="http://schemas.microsoft.com/office/drawing/2014/main" id="{E0193085-3E8A-4E72-BA1A-6E31E3BE854A}"/>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78" name="Google Shape;178;p6">
            <a:extLst>
              <a:ext uri="{FF2B5EF4-FFF2-40B4-BE49-F238E27FC236}">
                <a16:creationId xmlns:a16="http://schemas.microsoft.com/office/drawing/2014/main" id="{EAEB5653-D1B8-B52B-2DCD-72EDA7D2E52B}"/>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79" name="Google Shape;179;p6">
            <a:extLst>
              <a:ext uri="{FF2B5EF4-FFF2-40B4-BE49-F238E27FC236}">
                <a16:creationId xmlns:a16="http://schemas.microsoft.com/office/drawing/2014/main" id="{4ACB015C-609D-0548-7AC1-7925307FE8C3}"/>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extLst>
      <p:ext uri="{BB962C8B-B14F-4D97-AF65-F5344CB8AC3E}">
        <p14:creationId xmlns:p14="http://schemas.microsoft.com/office/powerpoint/2010/main" val="1589544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r>
              <a:rPr lang="en-IN" sz="2600" b="1" dirty="0"/>
              <a:t>Theoretical Framework: </a:t>
            </a:r>
            <a:r>
              <a:rPr lang="en-US" sz="2600" dirty="0"/>
              <a:t>The framework relies on detecting visual changes between frames to identify slide boundaries.</a:t>
            </a:r>
            <a:br>
              <a:rPr lang="en-US" sz="2600" dirty="0"/>
            </a:br>
            <a:r>
              <a:rPr lang="en-US" sz="2600" dirty="0"/>
              <a:t>Supervised ML models classify transitions, and OCR extracts text from detected slides.</a:t>
            </a:r>
            <a:br>
              <a:rPr lang="en-US" sz="2600" dirty="0"/>
            </a:br>
            <a:r>
              <a:rPr lang="en-US" sz="2600" dirty="0"/>
              <a:t>Extracted text is indexed to enable search and summarization.</a:t>
            </a:r>
          </a:p>
          <a:p>
            <a:pPr marL="228600" lvl="0" indent="-228600"/>
            <a:r>
              <a:rPr lang="en-IN" sz="2600" b="1" dirty="0"/>
              <a:t>Relevance to current research: </a:t>
            </a:r>
            <a:r>
              <a:rPr lang="en-US" sz="2600" dirty="0"/>
              <a:t>These studies validate the problem your project solves—automating slide extraction and indexing.</a:t>
            </a:r>
            <a:br>
              <a:rPr lang="en-US" sz="2600" dirty="0"/>
            </a:br>
            <a:r>
              <a:rPr lang="en-US" sz="2600" dirty="0"/>
              <a:t>Your pipeline aligns with proven methods and can later integrate advanced models like TransNetV2.</a:t>
            </a:r>
            <a:br>
              <a:rPr lang="en-US" sz="2600" dirty="0"/>
            </a:br>
            <a:r>
              <a:rPr lang="en-US" sz="2600" dirty="0"/>
              <a:t>The literature supports your system’s goal of making lecture videos searchable and easy to navigate.</a:t>
            </a:r>
            <a:endParaRPr sz="2600" dirty="0"/>
          </a:p>
        </p:txBody>
      </p:sp>
      <p:sp>
        <p:nvSpPr>
          <p:cNvPr id="177" name="Google Shape;177;p6"/>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78" name="Google Shape;178;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9" name="Google Shape;179;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r>
              <a:rPr lang="en-US" sz="2200" dirty="0"/>
              <a:t>Traditional lecture videos often contain long, unstructured content that makes it difficult for students and educators to locate specific concepts, review important ideas, or navigate between sections efficiently. Although lecture slides and spoken explanations are delivered simultaneously, they are rarely aligned in post-lecture recordings. As a result, learners must manually search through the entire video to find relevant parts, leading to wasted time, reduced engagement, and inefficient revision.</a:t>
            </a:r>
          </a:p>
          <a:p>
            <a:r>
              <a:rPr lang="en-US" sz="2200" dirty="0"/>
              <a:t>Moreover, existing video platforms lack intelligent mechanisms to automatically extract key visuals, synchronize them with slide content, or index the concepts being discussed. Without a searchable and well-organized structure, lecture videos fail to serve as effective study resources.</a:t>
            </a:r>
          </a:p>
          <a:p>
            <a:r>
              <a:rPr lang="en-US" sz="2200" b="1" dirty="0"/>
              <a:t>AI-Powered Slide Sync</a:t>
            </a:r>
            <a:r>
              <a:rPr lang="en-US" sz="2200" dirty="0"/>
              <a:t> addresses this gap by providing an automated system that analyzes lecture videos, extracts both slide frames and spoken audio, aligns them in real time with the corresponding slide content, and generates a searchable index of key topics. This solves the problem of poor navigability, lack of structure, and inefficient information retrieval from lecture videos.</a:t>
            </a:r>
          </a:p>
        </p:txBody>
      </p:sp>
      <p:sp>
        <p:nvSpPr>
          <p:cNvPr id="185" name="Google Shape;185;p7"/>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86" name="Google Shape;186;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7" name="Google Shape;187;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pPr>
            <a:r>
              <a:rPr lang="en-US" dirty="0"/>
              <a:t>To design and implement an AI–ML pipeline for detecting slide transitions in lecture videos</a:t>
            </a:r>
          </a:p>
          <a:p>
            <a:pPr marL="0" lvl="0" indent="0">
              <a:spcBef>
                <a:spcPts val="0"/>
              </a:spcBef>
              <a:buNone/>
            </a:pPr>
            <a:endParaRPr lang="en-US" dirty="0"/>
          </a:p>
          <a:p>
            <a:pPr marL="228600" lvl="0" indent="-228600">
              <a:spcBef>
                <a:spcPts val="0"/>
              </a:spcBef>
            </a:pPr>
            <a:r>
              <a:rPr lang="en-US" dirty="0"/>
              <a:t> To automatically capture and store high-quality screenshots of detected slides.</a:t>
            </a:r>
          </a:p>
          <a:p>
            <a:pPr marL="0" lvl="0" indent="0">
              <a:spcBef>
                <a:spcPts val="0"/>
              </a:spcBef>
              <a:buNone/>
            </a:pPr>
            <a:r>
              <a:rPr lang="en-US" dirty="0"/>
              <a:t> </a:t>
            </a:r>
          </a:p>
          <a:p>
            <a:pPr marL="228600" lvl="0" indent="-228600">
              <a:spcBef>
                <a:spcPts val="0"/>
              </a:spcBef>
            </a:pPr>
            <a:r>
              <a:rPr lang="en-US" dirty="0"/>
              <a:t>To perform OCR on extracted slides to retrieve textual information. </a:t>
            </a:r>
          </a:p>
          <a:p>
            <a:pPr marL="0" lvl="0" indent="0">
              <a:spcBef>
                <a:spcPts val="0"/>
              </a:spcBef>
              <a:buNone/>
            </a:pPr>
            <a:endParaRPr lang="en-US" dirty="0"/>
          </a:p>
          <a:p>
            <a:pPr marL="228600" lvl="0" indent="-228600">
              <a:spcBef>
                <a:spcPts val="0"/>
              </a:spcBef>
            </a:pPr>
            <a:r>
              <a:rPr lang="en-US" dirty="0"/>
              <a:t>To provide metadata such as timestamps, slide indices, and text summaries for each slide. </a:t>
            </a:r>
          </a:p>
          <a:p>
            <a:pPr marL="0" lvl="0" indent="0">
              <a:spcBef>
                <a:spcPts val="0"/>
              </a:spcBef>
              <a:buNone/>
            </a:pPr>
            <a:r>
              <a:rPr lang="en-US" dirty="0"/>
              <a:t> </a:t>
            </a:r>
          </a:p>
          <a:p>
            <a:pPr marL="228600" lvl="0" indent="-228600">
              <a:spcBef>
                <a:spcPts val="0"/>
              </a:spcBef>
            </a:pPr>
            <a:r>
              <a:rPr lang="en-US" dirty="0"/>
              <a:t>To enable extensibility for future deep-learning and prompt-based retrieval techniques.</a:t>
            </a:r>
            <a:endParaRPr dirty="0"/>
          </a:p>
        </p:txBody>
      </p:sp>
      <p:sp>
        <p:nvSpPr>
          <p:cNvPr id="193" name="Google Shape;193;p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194" name="Google Shape;194;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5" name="Google Shape;195;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lnSpcReduction="10000"/>
          </a:bodyPr>
          <a:lstStyle/>
          <a:p>
            <a:pPr marL="228600" lvl="0" indent="-228600">
              <a:spcBef>
                <a:spcPts val="0"/>
              </a:spcBef>
            </a:pPr>
            <a:r>
              <a:rPr lang="en-US" dirty="0"/>
              <a:t>The proposed system follows a multi-stage pipeline consisting of preprocessing, feature extraction, machine learning-based transition detection, OCR processing, and metadata generation. Initially, frames are extracted from the input video using OpenCV and compared sequentially to detect significant visual differences indicating a slide transition. Histogram difference, Structural Similarity Index (SSIM), and edge comparison metrics are used as features for transition detection. A supervised learning model such as Support Vector Machine (SVM) or Random Forest is trained on these features to classify frame pairs as transitions or non-transitions. Detected slide frames are cropped, cleaned, and processed using OCR (Tesseract or </a:t>
            </a:r>
            <a:r>
              <a:rPr lang="en-US" dirty="0" err="1"/>
              <a:t>PaddleOCR</a:t>
            </a:r>
            <a:r>
              <a:rPr lang="en-US" dirty="0"/>
              <a:t>) to extract textual content. The system then outputs the slides with associated timestamps and text summaries</a:t>
            </a:r>
            <a:endParaRPr dirty="0"/>
          </a:p>
        </p:txBody>
      </p:sp>
      <p:sp>
        <p:nvSpPr>
          <p:cNvPr id="201" name="Google Shape;201;p9"/>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02" name="Google Shape;202;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3" name="Google Shape;203;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92500" lnSpcReduction="20000"/>
          </a:bodyPr>
          <a:lstStyle/>
          <a:p>
            <a:r>
              <a:rPr lang="en-IN" b="1" dirty="0"/>
              <a:t>Expected Results: </a:t>
            </a:r>
            <a:r>
              <a:rPr lang="en-US" dirty="0"/>
              <a:t>The system will accurately detect slide transitions and extract slide frames automatically from lecture videos.</a:t>
            </a:r>
          </a:p>
          <a:p>
            <a:r>
              <a:rPr lang="en-US" dirty="0"/>
              <a:t>Each slide will be indexed with timestamps, and OCR will convert slide content into searchable text.</a:t>
            </a:r>
          </a:p>
          <a:p>
            <a:r>
              <a:rPr lang="en-US" dirty="0"/>
              <a:t>Users will be able to quickly navigate videos, search for topics, and access auto-generated summaries.</a:t>
            </a:r>
          </a:p>
          <a:p>
            <a:r>
              <a:rPr lang="en-IN" b="1" dirty="0"/>
              <a:t>Potential Impact on the Field: </a:t>
            </a:r>
            <a:r>
              <a:rPr lang="en-US" dirty="0"/>
              <a:t>The system will accurately detect slide transitions and extract slide frames automatically from lecture videos.</a:t>
            </a:r>
          </a:p>
          <a:p>
            <a:r>
              <a:rPr lang="en-US" dirty="0"/>
              <a:t>Each slide will be indexed with timestamps, and OCR will convert slide content into searchable text.</a:t>
            </a:r>
          </a:p>
          <a:p>
            <a:r>
              <a:rPr lang="en-US" dirty="0"/>
              <a:t>Users will be able to quickly navigate videos, search for topics, and access auto-generated summaries.</a:t>
            </a:r>
          </a:p>
        </p:txBody>
      </p:sp>
      <p:sp>
        <p:nvSpPr>
          <p:cNvPr id="217" name="Google Shape;217;p11"/>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18" name="Google Shape;218;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19" name="Google Shape;219;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BBC5B6C9-4B75-5EDE-0D05-61844D92B32B}"/>
            </a:ext>
          </a:extLst>
        </p:cNvPr>
        <p:cNvGrpSpPr/>
        <p:nvPr/>
      </p:nvGrpSpPr>
      <p:grpSpPr>
        <a:xfrm>
          <a:off x="0" y="0"/>
          <a:ext cx="0" cy="0"/>
          <a:chOff x="0" y="0"/>
          <a:chExt cx="0" cy="0"/>
        </a:xfrm>
      </p:grpSpPr>
      <p:sp>
        <p:nvSpPr>
          <p:cNvPr id="216" name="Google Shape;216;p11">
            <a:extLst>
              <a:ext uri="{FF2B5EF4-FFF2-40B4-BE49-F238E27FC236}">
                <a16:creationId xmlns:a16="http://schemas.microsoft.com/office/drawing/2014/main" id="{340828CC-0321-1607-C50B-888124119FF0}"/>
              </a:ext>
            </a:extLst>
          </p:cNvPr>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rgbClr val="002060"/>
              </a:buClr>
              <a:buSzPts val="2800"/>
              <a:buNone/>
            </a:pPr>
            <a:r>
              <a:rPr lang="en-IN" b="1" dirty="0"/>
              <a:t>Future Research Directions:</a:t>
            </a:r>
          </a:p>
          <a:p>
            <a:pPr indent="-457200"/>
            <a:r>
              <a:rPr lang="en-US" dirty="0"/>
              <a:t>Integration of advanced models such as TransNetV2, </a:t>
            </a:r>
            <a:r>
              <a:rPr lang="en-US" dirty="0" err="1"/>
              <a:t>SliTraNet</a:t>
            </a:r>
            <a:r>
              <a:rPr lang="en-US" dirty="0"/>
              <a:t>, or CLIP for semantic slide retrieval and multimodal understanding.</a:t>
            </a:r>
          </a:p>
          <a:p>
            <a:pPr indent="-457200"/>
            <a:r>
              <a:rPr lang="en-US" dirty="0"/>
              <a:t>Integration of advanced models such as TransNetV2, </a:t>
            </a:r>
            <a:r>
              <a:rPr lang="en-US" dirty="0" err="1"/>
              <a:t>SliTraNet</a:t>
            </a:r>
            <a:r>
              <a:rPr lang="en-US" dirty="0"/>
              <a:t>, or CLIP for semantic slide retrieval and multimodal understanding.</a:t>
            </a:r>
          </a:p>
          <a:p>
            <a:pPr indent="-457200"/>
            <a:r>
              <a:rPr lang="en-US" dirty="0"/>
              <a:t>Development of personalized learning analytics based on student search patterns and slide interaction.</a:t>
            </a:r>
            <a:endParaRPr dirty="0"/>
          </a:p>
        </p:txBody>
      </p:sp>
      <p:sp>
        <p:nvSpPr>
          <p:cNvPr id="217" name="Google Shape;217;p11">
            <a:extLst>
              <a:ext uri="{FF2B5EF4-FFF2-40B4-BE49-F238E27FC236}">
                <a16:creationId xmlns:a16="http://schemas.microsoft.com/office/drawing/2014/main" id="{11D5E2A4-80D9-9562-7561-860557930F53}"/>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18" name="Google Shape;218;p11">
            <a:extLst>
              <a:ext uri="{FF2B5EF4-FFF2-40B4-BE49-F238E27FC236}">
                <a16:creationId xmlns:a16="http://schemas.microsoft.com/office/drawing/2014/main" id="{81418986-82F4-4B25-C1E5-8FDA090BC102}"/>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9" name="Google Shape;219;p11">
            <a:extLst>
              <a:ext uri="{FF2B5EF4-FFF2-40B4-BE49-F238E27FC236}">
                <a16:creationId xmlns:a16="http://schemas.microsoft.com/office/drawing/2014/main" id="{292ABFB5-66A0-5AFD-6AD7-D1C4DAD5170D}"/>
              </a:ext>
            </a:extLst>
          </p:cNvPr>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extLst>
      <p:ext uri="{BB962C8B-B14F-4D97-AF65-F5344CB8AC3E}">
        <p14:creationId xmlns:p14="http://schemas.microsoft.com/office/powerpoint/2010/main" val="11185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0" lvl="0" indent="0">
              <a:spcBef>
                <a:spcPts val="0"/>
              </a:spcBef>
              <a:buNone/>
            </a:pPr>
            <a:r>
              <a:rPr lang="en-US" dirty="0"/>
              <a:t>The proposed AI-Powered </a:t>
            </a:r>
            <a:r>
              <a:rPr lang="en-US" dirty="0" err="1"/>
              <a:t>SlideSync</a:t>
            </a:r>
            <a:r>
              <a:rPr lang="en-US" dirty="0"/>
              <a:t> system aims to transform lengthy lecture videos into structured, searchable, and easy-to-navigate learning resources. By combining automated slide transition detection, OCR-based text extraction, and intelligent indexing, the project addresses a major challenge faced by students and educators—efficient access to relevant content within large video archives. The system not only improves the learning experience but also lays a foundational framework for advanced educational technologies such as semantic search, AI-driven summarization, and personalized learning analytics. Overall, this work contributes toward making digital learning more accessible, organized, and impactful.</a:t>
            </a:r>
            <a:endParaRPr dirty="0"/>
          </a:p>
        </p:txBody>
      </p:sp>
      <p:sp>
        <p:nvSpPr>
          <p:cNvPr id="234" name="Google Shape;234;p13"/>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35" name="Google Shape;235;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36" name="Google Shape;236;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spcBef>
                <a:spcPts val="0"/>
              </a:spcBef>
            </a:pPr>
            <a:r>
              <a:rPr lang="en-IN" sz="2200" dirty="0"/>
              <a:t> A. Sindel et al., “</a:t>
            </a:r>
            <a:r>
              <a:rPr lang="en-IN" sz="2200" dirty="0" err="1"/>
              <a:t>SliTraNet</a:t>
            </a:r>
            <a:r>
              <a:rPr lang="en-IN" sz="2200" dirty="0"/>
              <a:t>: Automatic Detection of Slide Transitions in Lecture Videos using CNNs,” OAGM Workshop, 2022.</a:t>
            </a:r>
          </a:p>
          <a:p>
            <a:pPr marL="0" lvl="0" indent="0">
              <a:spcBef>
                <a:spcPts val="0"/>
              </a:spcBef>
              <a:buNone/>
            </a:pPr>
            <a:endParaRPr lang="en-IN" sz="2200" dirty="0"/>
          </a:p>
          <a:p>
            <a:pPr marL="228600" lvl="0" indent="-228600">
              <a:spcBef>
                <a:spcPts val="0"/>
              </a:spcBef>
            </a:pPr>
            <a:r>
              <a:rPr lang="en-IN" sz="2200" dirty="0"/>
              <a:t> T. Souček and J. </a:t>
            </a:r>
            <a:r>
              <a:rPr lang="en-IN" sz="2200" dirty="0" err="1"/>
              <a:t>Lokoč</a:t>
            </a:r>
            <a:r>
              <a:rPr lang="en-IN" sz="2200" dirty="0"/>
              <a:t>, “</a:t>
            </a:r>
            <a:r>
              <a:rPr lang="en-IN" sz="2200" dirty="0" err="1"/>
              <a:t>TransNet</a:t>
            </a:r>
            <a:r>
              <a:rPr lang="en-IN" sz="2200" dirty="0"/>
              <a:t> V2: An Effective Deep Network Architecture for Fast Shot Transition Detection,” arXiv:2008.04838, 2020.</a:t>
            </a:r>
          </a:p>
          <a:p>
            <a:pPr marL="228600" lvl="0" indent="-228600">
              <a:spcBef>
                <a:spcPts val="0"/>
              </a:spcBef>
            </a:pPr>
            <a:endParaRPr lang="en-IN" sz="2200" dirty="0"/>
          </a:p>
          <a:p>
            <a:pPr marL="228600" lvl="0" indent="-228600">
              <a:spcBef>
                <a:spcPts val="0"/>
              </a:spcBef>
            </a:pPr>
            <a:r>
              <a:rPr lang="en-IN" sz="2200" dirty="0"/>
              <a:t> H. J. Jeong et al., “Automatic Detection of Slide Transitions in Lecture Videos,” Multimedia Tools and Applications, vol. 74, no. 18, 2015. </a:t>
            </a:r>
          </a:p>
          <a:p>
            <a:pPr marL="0" lvl="0" indent="0">
              <a:spcBef>
                <a:spcPts val="0"/>
              </a:spcBef>
              <a:buNone/>
            </a:pPr>
            <a:endParaRPr lang="en-IN" sz="2200" dirty="0"/>
          </a:p>
          <a:p>
            <a:pPr marL="228600" lvl="0" indent="-228600">
              <a:spcBef>
                <a:spcPts val="0"/>
              </a:spcBef>
            </a:pPr>
            <a:r>
              <a:rPr lang="en-IN" sz="2200" dirty="0"/>
              <a:t> A. Radford et al., “Learning Transferable Visual Models From Natural Language Supervision,” arXiv:2103.00020, 2021.</a:t>
            </a:r>
          </a:p>
          <a:p>
            <a:pPr marL="228600" lvl="0" indent="-228600">
              <a:spcBef>
                <a:spcPts val="0"/>
              </a:spcBef>
            </a:pPr>
            <a:endParaRPr lang="en-IN" sz="2200" dirty="0"/>
          </a:p>
          <a:p>
            <a:pPr marL="228600" lvl="0" indent="-228600">
              <a:spcBef>
                <a:spcPts val="0"/>
              </a:spcBef>
            </a:pPr>
            <a:r>
              <a:rPr lang="en-IN" sz="2200" b="1" dirty="0"/>
              <a:t>H. Liu et al., 2023 – “Video Summarization Leveraging Multimodal Information for Presentations” (</a:t>
            </a:r>
            <a:r>
              <a:rPr lang="en-IN" sz="2200" b="1" dirty="0" err="1"/>
              <a:t>Interspeech</a:t>
            </a:r>
            <a:r>
              <a:rPr lang="en-IN" sz="2200" b="1" dirty="0"/>
              <a:t>)</a:t>
            </a:r>
            <a:br>
              <a:rPr lang="en-IN" sz="2200" dirty="0"/>
            </a:br>
            <a:r>
              <a:rPr lang="en-IN" sz="2200" dirty="0"/>
              <a:t>PDF: </a:t>
            </a:r>
            <a:r>
              <a:rPr lang="en-IN" sz="2200" dirty="0">
                <a:hlinkClick r:id="rId3"/>
              </a:rPr>
              <a:t>https://www.isca-archive.org/interspeech_2023/liu23x_interspeech.pdf</a:t>
            </a:r>
            <a:endParaRPr lang="en-IN" sz="2200" dirty="0"/>
          </a:p>
          <a:p>
            <a:pPr marL="0" lvl="0" indent="0">
              <a:spcBef>
                <a:spcPts val="0"/>
              </a:spcBef>
              <a:buNone/>
            </a:pPr>
            <a:endParaRPr sz="2200" dirty="0"/>
          </a:p>
        </p:txBody>
      </p:sp>
      <p:sp>
        <p:nvSpPr>
          <p:cNvPr id="243" name="Google Shape;243;p14"/>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44" name="Google Shape;244;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45" name="Google Shape;245;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E8A842F8-22BD-962E-7304-2BA24F488749}"/>
            </a:ext>
          </a:extLst>
        </p:cNvPr>
        <p:cNvGrpSpPr/>
        <p:nvPr/>
      </p:nvGrpSpPr>
      <p:grpSpPr>
        <a:xfrm>
          <a:off x="0" y="0"/>
          <a:ext cx="0" cy="0"/>
          <a:chOff x="0" y="0"/>
          <a:chExt cx="0" cy="0"/>
        </a:xfrm>
      </p:grpSpPr>
      <p:sp>
        <p:nvSpPr>
          <p:cNvPr id="243" name="Google Shape;243;p14">
            <a:extLst>
              <a:ext uri="{FF2B5EF4-FFF2-40B4-BE49-F238E27FC236}">
                <a16:creationId xmlns:a16="http://schemas.microsoft.com/office/drawing/2014/main" id="{397CC131-4A28-E506-6310-A16758F236CF}"/>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44" name="Google Shape;244;p14">
            <a:extLst>
              <a:ext uri="{FF2B5EF4-FFF2-40B4-BE49-F238E27FC236}">
                <a16:creationId xmlns:a16="http://schemas.microsoft.com/office/drawing/2014/main" id="{0257D90B-B842-3827-1F3C-3F4F03D5D49A}"/>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45" name="Google Shape;245;p14">
            <a:extLst>
              <a:ext uri="{FF2B5EF4-FFF2-40B4-BE49-F238E27FC236}">
                <a16:creationId xmlns:a16="http://schemas.microsoft.com/office/drawing/2014/main" id="{E7E7C307-24CA-FAE1-B439-70876031BD6E}"/>
              </a:ext>
            </a:extLst>
          </p:cNvPr>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
        <p:nvSpPr>
          <p:cNvPr id="4" name="Text Placeholder 3">
            <a:extLst>
              <a:ext uri="{FF2B5EF4-FFF2-40B4-BE49-F238E27FC236}">
                <a16:creationId xmlns:a16="http://schemas.microsoft.com/office/drawing/2014/main" id="{D72947E5-C889-A4D9-7DED-C9DC95667303}"/>
              </a:ext>
            </a:extLst>
          </p:cNvPr>
          <p:cNvSpPr>
            <a:spLocks noGrp="1"/>
          </p:cNvSpPr>
          <p:nvPr>
            <p:ph type="body" idx="1"/>
          </p:nvPr>
        </p:nvSpPr>
        <p:spPr/>
        <p:txBody>
          <a:bodyPr>
            <a:normAutofit fontScale="92500"/>
          </a:bodyPr>
          <a:lstStyle/>
          <a:p>
            <a:r>
              <a:rPr lang="en-IN" sz="2200" b="1" dirty="0"/>
              <a:t>Holmberg et al., 2025 – “Generating Narrated Lecture Videos from Slides with AI”</a:t>
            </a:r>
            <a:br>
              <a:rPr lang="en-IN" sz="2200" dirty="0"/>
            </a:br>
            <a:r>
              <a:rPr lang="en-IN" sz="2200" dirty="0" err="1"/>
              <a:t>arXiv</a:t>
            </a:r>
            <a:r>
              <a:rPr lang="en-IN" sz="2200" dirty="0"/>
              <a:t> preprint: </a:t>
            </a:r>
            <a:r>
              <a:rPr lang="en-IN" sz="2200" dirty="0">
                <a:hlinkClick r:id="rId3"/>
              </a:rPr>
              <a:t>https://arxiv.org/abs/2505.02966</a:t>
            </a:r>
            <a:endParaRPr lang="en-IN" sz="2200" dirty="0"/>
          </a:p>
          <a:p>
            <a:r>
              <a:rPr lang="en-US" sz="2400" b="1" dirty="0"/>
              <a:t>“</a:t>
            </a:r>
            <a:r>
              <a:rPr lang="en-US" sz="2200" b="1" dirty="0"/>
              <a:t>Summarization of Multimodal Presentations with Vision–Language Models” (2025)</a:t>
            </a:r>
            <a:br>
              <a:rPr lang="en-US" sz="2200" dirty="0"/>
            </a:br>
            <a:r>
              <a:rPr lang="en-US" sz="2200" dirty="0" err="1"/>
              <a:t>arXiv</a:t>
            </a:r>
            <a:r>
              <a:rPr lang="en-US" sz="2200" dirty="0"/>
              <a:t> preprint: </a:t>
            </a:r>
            <a:r>
              <a:rPr lang="en-US" sz="2200" dirty="0">
                <a:hlinkClick r:id="rId4"/>
              </a:rPr>
              <a:t>https://arxiv.org/abs/2504.10049</a:t>
            </a:r>
            <a:endParaRPr lang="en-US" sz="2200" dirty="0"/>
          </a:p>
          <a:p>
            <a:r>
              <a:rPr lang="en-IN" sz="2200" b="1" dirty="0"/>
              <a:t>H. Liu et al., 2023 – “Video Summarization Leveraging Multimodal Information for Presentations” (</a:t>
            </a:r>
            <a:r>
              <a:rPr lang="en-IN" sz="2200" b="1" dirty="0" err="1"/>
              <a:t>Interspeech</a:t>
            </a:r>
            <a:r>
              <a:rPr lang="en-IN" sz="2200" b="1" dirty="0"/>
              <a:t>)</a:t>
            </a:r>
            <a:br>
              <a:rPr lang="en-IN" sz="2200" dirty="0"/>
            </a:br>
            <a:r>
              <a:rPr lang="en-IN" sz="2200" dirty="0"/>
              <a:t>PDF: </a:t>
            </a:r>
            <a:r>
              <a:rPr lang="en-IN" sz="2200" dirty="0">
                <a:hlinkClick r:id="rId5"/>
              </a:rPr>
              <a:t>https://www.isca-archive.org/interspeech_2023/liu23x_interspeech.pdf</a:t>
            </a:r>
            <a:endParaRPr lang="en-IN" sz="2200" dirty="0"/>
          </a:p>
          <a:p>
            <a:r>
              <a:rPr lang="en-US" sz="2200" b="1" dirty="0"/>
              <a:t>“Educational Video </a:t>
            </a:r>
            <a:r>
              <a:rPr lang="en-US" sz="2200" b="1" dirty="0" err="1"/>
              <a:t>Summarisation</a:t>
            </a:r>
            <a:r>
              <a:rPr lang="en-US" sz="2200" b="1" dirty="0"/>
              <a:t>” (IJFMR, 2024)</a:t>
            </a:r>
            <a:r>
              <a:rPr lang="en-US" sz="2200" dirty="0"/>
              <a:t> – uses transcripts + LLM-based summarization for educational videos.</a:t>
            </a:r>
            <a:br>
              <a:rPr lang="en-US" sz="2200" dirty="0"/>
            </a:br>
            <a:r>
              <a:rPr lang="en-US" sz="2200" dirty="0"/>
              <a:t>PDF: </a:t>
            </a:r>
            <a:r>
              <a:rPr lang="en-US" sz="2200" dirty="0">
                <a:hlinkClick r:id="rId6"/>
              </a:rPr>
              <a:t>https://www.ijfmr.com/papers/2024/6/32711.pdf</a:t>
            </a:r>
            <a:endParaRPr lang="en-US" sz="2200" dirty="0"/>
          </a:p>
          <a:p>
            <a:r>
              <a:rPr lang="en-US" sz="2400" b="1" dirty="0"/>
              <a:t>“Automated Summarization of Lecture Videos”</a:t>
            </a:r>
            <a:br>
              <a:rPr lang="en-US" sz="2400" dirty="0"/>
            </a:br>
            <a:r>
              <a:rPr lang="en-US" sz="2400" dirty="0"/>
              <a:t>ResearchGate entry (PDF): </a:t>
            </a:r>
            <a:r>
              <a:rPr lang="en-US" sz="2400" dirty="0">
                <a:hlinkClick r:id="rId7"/>
              </a:rPr>
              <a:t>https://www.researchgate.net/publication/329952893_Automated_Summarization_of_Lecture_Videos</a:t>
            </a:r>
            <a:endParaRPr lang="en-US" sz="2400" dirty="0"/>
          </a:p>
          <a:p>
            <a:endParaRPr lang="en-IN" sz="2400" dirty="0"/>
          </a:p>
          <a:p>
            <a:endParaRPr lang="en-IN" sz="2200" dirty="0"/>
          </a:p>
        </p:txBody>
      </p:sp>
    </p:spTree>
    <p:extLst>
      <p:ext uri="{BB962C8B-B14F-4D97-AF65-F5344CB8AC3E}">
        <p14:creationId xmlns:p14="http://schemas.microsoft.com/office/powerpoint/2010/main" val="2096711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a:extLst>
            <a:ext uri="{FF2B5EF4-FFF2-40B4-BE49-F238E27FC236}">
              <a16:creationId xmlns:a16="http://schemas.microsoft.com/office/drawing/2014/main" id="{FA6CBA4F-2FA5-AEF0-AAD0-7496B057DC4D}"/>
            </a:ext>
          </a:extLst>
        </p:cNvPr>
        <p:cNvGrpSpPr/>
        <p:nvPr/>
      </p:nvGrpSpPr>
      <p:grpSpPr>
        <a:xfrm>
          <a:off x="0" y="0"/>
          <a:ext cx="0" cy="0"/>
          <a:chOff x="0" y="0"/>
          <a:chExt cx="0" cy="0"/>
        </a:xfrm>
      </p:grpSpPr>
      <p:sp>
        <p:nvSpPr>
          <p:cNvPr id="243" name="Google Shape;243;p14">
            <a:extLst>
              <a:ext uri="{FF2B5EF4-FFF2-40B4-BE49-F238E27FC236}">
                <a16:creationId xmlns:a16="http://schemas.microsoft.com/office/drawing/2014/main" id="{3EE73719-9928-EF53-07EB-FC33AD2A6685}"/>
              </a:ext>
            </a:extLst>
          </p:cNvPr>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44" name="Google Shape;244;p14">
            <a:extLst>
              <a:ext uri="{FF2B5EF4-FFF2-40B4-BE49-F238E27FC236}">
                <a16:creationId xmlns:a16="http://schemas.microsoft.com/office/drawing/2014/main" id="{451C1A4D-7C4E-D1C8-6157-CB4D2BBE4977}"/>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sp>
        <p:nvSpPr>
          <p:cNvPr id="245" name="Google Shape;245;p14">
            <a:extLst>
              <a:ext uri="{FF2B5EF4-FFF2-40B4-BE49-F238E27FC236}">
                <a16:creationId xmlns:a16="http://schemas.microsoft.com/office/drawing/2014/main" id="{D93817F2-88B7-4CBF-CB92-C00431163C25}"/>
              </a:ext>
            </a:extLst>
          </p:cNvPr>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
        <p:nvSpPr>
          <p:cNvPr id="4" name="Text Placeholder 3">
            <a:extLst>
              <a:ext uri="{FF2B5EF4-FFF2-40B4-BE49-F238E27FC236}">
                <a16:creationId xmlns:a16="http://schemas.microsoft.com/office/drawing/2014/main" id="{DA50FF5D-B31F-7A2A-A870-DFB3F7B50E0F}"/>
              </a:ext>
            </a:extLst>
          </p:cNvPr>
          <p:cNvSpPr>
            <a:spLocks noGrp="1"/>
          </p:cNvSpPr>
          <p:nvPr>
            <p:ph type="body" idx="1"/>
          </p:nvPr>
        </p:nvSpPr>
        <p:spPr/>
        <p:txBody>
          <a:bodyPr>
            <a:normAutofit lnSpcReduction="10000"/>
          </a:bodyPr>
          <a:lstStyle/>
          <a:p>
            <a:r>
              <a:rPr lang="en-US" sz="2400" b="1" dirty="0"/>
              <a:t>“</a:t>
            </a:r>
            <a:r>
              <a:rPr lang="en-US" sz="2200" b="1" dirty="0"/>
              <a:t>Video Lecture Summarization Using Machine Learning” (IJIRT)</a:t>
            </a:r>
            <a:br>
              <a:rPr lang="en-US" sz="2200" dirty="0"/>
            </a:br>
            <a:r>
              <a:rPr lang="en-US" sz="2200" dirty="0"/>
              <a:t>PDF: </a:t>
            </a:r>
            <a:r>
              <a:rPr lang="en-US" sz="2200" dirty="0">
                <a:hlinkClick r:id="rId3"/>
              </a:rPr>
              <a:t>https://ijirt.org/publishedpaper/IJIRT151416_PAPER.pdf</a:t>
            </a:r>
            <a:endParaRPr lang="en-US" sz="2200" dirty="0"/>
          </a:p>
          <a:p>
            <a:r>
              <a:rPr lang="en-IN" sz="2200" b="1" dirty="0"/>
              <a:t>“Educational Videos Subtitles’ Summarization Using Latent Dirichlet Allocation (LDA)”</a:t>
            </a:r>
            <a:br>
              <a:rPr lang="en-IN" sz="2200" dirty="0"/>
            </a:br>
            <a:r>
              <a:rPr lang="en-IN" sz="2200" dirty="0" err="1"/>
              <a:t>TechScience</a:t>
            </a:r>
            <a:r>
              <a:rPr lang="en-IN" sz="2200" dirty="0"/>
              <a:t> CMC: https://www.techscience.com/cmc/v70n3/45033/html</a:t>
            </a:r>
          </a:p>
          <a:p>
            <a:r>
              <a:rPr lang="en-US" sz="2200" b="1" dirty="0"/>
              <a:t>Xiangyu et al., 2009 – “A Robust Framework for Aligning Lecture Slides with Video” (ICIP)</a:t>
            </a:r>
            <a:br>
              <a:rPr lang="en-US" sz="2200" dirty="0"/>
            </a:br>
            <a:r>
              <a:rPr lang="en-US" sz="2200" dirty="0"/>
              <a:t>PDF: </a:t>
            </a:r>
            <a:r>
              <a:rPr lang="en-US" sz="2200" dirty="0">
                <a:hlinkClick r:id="rId4"/>
              </a:rPr>
              <a:t>https://www.comp.nus.edu.sg/~mohan/papers/icip2009.pdf</a:t>
            </a:r>
            <a:endParaRPr lang="en-US" sz="2200" dirty="0"/>
          </a:p>
          <a:p>
            <a:r>
              <a:rPr lang="en-US" sz="2200" b="1" dirty="0"/>
              <a:t>Xiangyu et al., 2009 – “A Robust Framework for Aligning Lecture Slides with Video” (ICIP)</a:t>
            </a:r>
            <a:br>
              <a:rPr lang="en-US" sz="2200" dirty="0"/>
            </a:br>
            <a:r>
              <a:rPr lang="en-US" sz="2200" dirty="0"/>
              <a:t>PDF: </a:t>
            </a:r>
            <a:r>
              <a:rPr lang="en-US" sz="2200" dirty="0">
                <a:hlinkClick r:id="rId4"/>
              </a:rPr>
              <a:t>https://www.comp.nus.edu.sg/~mohan/papers/icip2009.pdf</a:t>
            </a:r>
            <a:endParaRPr lang="en-US" sz="2200" dirty="0"/>
          </a:p>
          <a:p>
            <a:r>
              <a:rPr lang="en-US" sz="2200" b="1" dirty="0"/>
              <a:t>Xiangyu et al., 2009 – “A Robust Framework for Aligning Lecture Slides with Video” (ICIP)</a:t>
            </a:r>
            <a:br>
              <a:rPr lang="en-US" sz="2200" dirty="0"/>
            </a:br>
            <a:r>
              <a:rPr lang="en-US" sz="2200" dirty="0"/>
              <a:t>PDF: https://www.comp.nus.edu.sg/~mohan/papers/icip2009.pdf</a:t>
            </a:r>
            <a:endParaRPr lang="en-IN" sz="2200" dirty="0"/>
          </a:p>
        </p:txBody>
      </p:sp>
    </p:spTree>
    <p:extLst>
      <p:ext uri="{BB962C8B-B14F-4D97-AF65-F5344CB8AC3E}">
        <p14:creationId xmlns:p14="http://schemas.microsoft.com/office/powerpoint/2010/main" val="4109794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228600" lvl="0" indent="-228600" algn="just">
              <a:buSzPts val="2300"/>
            </a:pPr>
            <a:r>
              <a:rPr lang="en-IN" sz="2300" b="1" dirty="0"/>
              <a:t>Patent Filing: </a:t>
            </a:r>
            <a:r>
              <a:rPr lang="en-US" sz="2400" dirty="0"/>
              <a:t>If the system demonstrates novel functionality in slide detection or video summarization, a patent can be filed. This includes preparing the patent description, claims, and conducting a prior art search.</a:t>
            </a:r>
          </a:p>
          <a:p>
            <a:pPr marL="228600" lvl="0" indent="-228600" algn="just">
              <a:buSzPts val="2300"/>
            </a:pPr>
            <a:r>
              <a:rPr lang="en-IN" sz="2300" b="1" dirty="0"/>
              <a:t>Journal Publication: </a:t>
            </a:r>
            <a:r>
              <a:rPr lang="en-US" sz="2400" dirty="0"/>
              <a:t>The complete methodology, experimental results, and system evaluation can be written as a full research paper. It can be submitted to Scopus-indexed journals in AI, educational technology, or multimedia processing.</a:t>
            </a:r>
          </a:p>
          <a:p>
            <a:pPr marL="228600" lvl="0" indent="-228600" algn="just">
              <a:buSzPts val="2300"/>
            </a:pPr>
            <a:r>
              <a:rPr lang="en-IN" sz="2300" b="1" dirty="0"/>
              <a:t>Conference Publication: </a:t>
            </a:r>
            <a:r>
              <a:rPr lang="en-US" sz="2400" dirty="0"/>
              <a:t>The complete methodology, experimental results, and system evaluation can be written as a full research paper. It can be submitted to Scopus-indexed journals in AI, educational technology, or multimedia processing.</a:t>
            </a:r>
          </a:p>
          <a:p>
            <a:pPr marL="228600" lvl="0" indent="-228600" algn="just">
              <a:buSzPts val="2300"/>
            </a:pPr>
            <a:r>
              <a:rPr lang="en-IN" sz="2300" b="1" dirty="0"/>
              <a:t>Research Proposal:</a:t>
            </a:r>
            <a:r>
              <a:rPr lang="en-US" sz="2200" dirty="0"/>
              <a:t>The complete methodology, experimental results, and system evaluation can be written as a full research paper. It can be submitted to Scopus-indexed journals in AI, educational technology, or multimedia processing.</a:t>
            </a:r>
            <a:endParaRPr sz="2200" dirty="0"/>
          </a:p>
        </p:txBody>
      </p:sp>
      <p:sp>
        <p:nvSpPr>
          <p:cNvPr id="252" name="Google Shape;252;p15"/>
          <p:cNvSpPr txBox="1">
            <a:spLocks noGrp="1"/>
          </p:cNvSpPr>
          <p:nvPr>
            <p:ph type="dt" idx="10"/>
          </p:nvPr>
        </p:nvSpPr>
        <p:spPr>
          <a:xfrm>
            <a:off x="174812" y="649287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27-11-25</a:t>
            </a:r>
            <a:endParaRPr dirty="0"/>
          </a:p>
        </p:txBody>
      </p:sp>
      <p:sp>
        <p:nvSpPr>
          <p:cNvPr id="253" name="Google Shape;253;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54" name="Google Shape;254;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6"/>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Saturday, 01 November 2025</a:t>
            </a:r>
            <a:endParaRPr/>
          </a:p>
        </p:txBody>
      </p:sp>
      <p:sp>
        <p:nvSpPr>
          <p:cNvPr id="260" name="Google Shape;260;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pic>
        <p:nvPicPr>
          <p:cNvPr id="261" name="Google Shape;261;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1791</Words>
  <Application>Microsoft Office PowerPoint</Application>
  <PresentationFormat>Widescreen</PresentationFormat>
  <Paragraphs>119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Shanmukha</dc:creator>
  <cp:lastModifiedBy>krishang reddy</cp:lastModifiedBy>
  <cp:revision>1</cp:revision>
  <dcterms:created xsi:type="dcterms:W3CDTF">2021-06-02T13:10:21Z</dcterms:created>
  <dcterms:modified xsi:type="dcterms:W3CDTF">2025-11-27T09:09:20Z</dcterms:modified>
</cp:coreProperties>
</file>